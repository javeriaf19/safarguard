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7A87"/>
                </a:solidFill>
                <a:latin typeface="Arial"/>
              </a:defRPr>
            </a:pPr>
            <a:r>
              <a:t>SafarGuard  |  HIGHWAY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3200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rial"/>
              </a:defRPr>
            </a:pPr>
            <a:r>
              <a:t>GOOGLE DEEPMIND • GEMMA 4   |   DIGITALOCEAN OPEN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6217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  <a:latin typeface="Arial"/>
              </a:defRPr>
            </a:pPr>
            <a:r>
              <a:t>● PROVINCIAL HIGHWAY SAFETY • CENTRAL PUNJAB</a:t>
            </a:r>
          </a:p>
          <a:p>
            <a:pPr>
              <a:defRPr sz="4600" b="1">
                <a:solidFill>
                  <a:srgbClr val="0F172A"/>
                </a:solidFill>
                <a:latin typeface="Arial"/>
              </a:defRPr>
            </a:pPr>
            <a:r>
              <a:t>THE WINTER</a:t>
            </a:r>
            <a:br/>
            <a:r>
              <a:t>DEATH TRAP.</a:t>
            </a:r>
          </a:p>
          <a:p>
            <a:br/>
            <a:pPr>
              <a:defRPr sz="1500">
                <a:solidFill>
                  <a:srgbClr val="64748B"/>
                </a:solidFill>
                <a:latin typeface="Calibri"/>
              </a:defRPr>
            </a:pPr>
            <a:r>
              <a:t>Every winter, dense smog paralyzes the M-2, M-11, and GT Road.</a:t>
            </a:r>
            <a:br/>
            <a:r>
              <a:t>Conventional apps treat smog merely as an air quality issue.</a:t>
            </a:r>
            <a:br/>
            <a:r>
              <a:t>Drivers continue cruising at 100 km/h until blinding whiteout glare and a greasy chemical dew slick turn the highway into fatal multi-vehicle pileups.</a:t>
            </a:r>
          </a:p>
          <a:p>
            <a:br/>
            <a:pPr>
              <a:defRPr sz="1200" b="1">
                <a:solidFill>
                  <a:srgbClr val="007A87"/>
                </a:solidFill>
                <a:latin typeface="Arial"/>
              </a:defRPr>
            </a:pPr>
            <a:r>
              <a:t>Presenter: Javeria Farhan  •  Hacktoberfest Hack Day Lahore 2026</a:t>
            </a:r>
          </a:p>
        </p:txBody>
      </p:sp>
      <p:pic>
        <p:nvPicPr>
          <p:cNvPr id="6" name="Picture 5" descr="fog-colli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280160"/>
            <a:ext cx="429768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7A87"/>
                </a:solidFill>
                <a:latin typeface="Arial"/>
              </a:defRPr>
            </a:pPr>
            <a:r>
              <a:t>SafarGuard  |  HIGHWAY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3200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rial"/>
              </a:defRPr>
            </a:pPr>
            <a:r>
              <a:t>GOOGLE DEEPMIND • GEMMA 4   |   DIGITALOCEAN OPEN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A87"/>
                </a:solidFill>
                <a:latin typeface="Arial"/>
              </a:defRPr>
            </a:pPr>
            <a:r>
              <a:t>REAL-TIME ACCIDENT RISK MATRIX  —  THE GROUND REALITY</a:t>
            </a:r>
          </a:p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Punjab Rescue 1122 Highway Dispatch Benchmarks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  <a:latin typeface="Arial"/>
              </a:defRPr>
            </a:pPr>
            <a:r>
              <a:t>+34.8%   —   Winter Collision Dispatch Surge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Rescue 1122 emergency dispatches surge on M-2 &amp; GT Road (Nov - Feb)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51206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Arial"/>
              </a:defRPr>
            </a:pPr>
            <a:r>
              <a:t>0.28 f   —   Chemical Dew Friction Collapse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Aerosol soot + 90% humidity collapses road friction from 0.70 to 0.28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80"/>
            <a:ext cx="51206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7A87"/>
                </a:solidFill>
                <a:latin typeface="Arial"/>
              </a:defRPr>
            </a:pPr>
            <a:r>
              <a:t>2.85 s   —   Driver Perception Delay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Aerosol optical particle scattering expands driver reaction lag by over 80%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17920" y="2011680"/>
          <a:ext cx="52120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737360"/>
                <a:gridCol w="1828800"/>
              </a:tblGrid>
              <a:tr h="6553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Speed</a:t>
                      </a:r>
                    </a:p>
                  </a:txBody>
                  <a:tcPr>
                    <a:solidFill>
                      <a:srgbClr val="090F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Dry Asphalt (f=0.70)</a:t>
                      </a:r>
                    </a:p>
                  </a:txBody>
                  <a:tcPr>
                    <a:solidFill>
                      <a:srgbClr val="090F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Smog Slick (f=0.28)</a:t>
                      </a:r>
                    </a:p>
                  </a:txBody>
                  <a:tcPr>
                    <a:solidFill>
                      <a:srgbClr val="090F1E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40 km/h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26 meters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48 meters  (+84%)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60 km/h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45 meters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91 meters  (+102%)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80 km/h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69 meters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147 meters (+113%)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100 km/h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98 meters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216 meters (+120%)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120 km/h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131 meters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297 meters (+126%)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7A87"/>
                </a:solidFill>
                <a:latin typeface="Arial"/>
              </a:defRPr>
            </a:pPr>
            <a:r>
              <a:t>SafarGuard  |  HIGHWAY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3200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rial"/>
              </a:defRPr>
            </a:pPr>
            <a:r>
              <a:t>GOOGLE DEEPMIND • GEMMA 4   |   DIGITALOCEAN OPEN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A87"/>
                </a:solidFill>
                <a:latin typeface="Arial"/>
              </a:defRPr>
            </a:pPr>
            <a:r>
              <a:t>HIGHWAY SAFETY MATHEMATICS  —  DETERMINISTIC PHYSICS &amp; AI</a:t>
            </a:r>
          </a:p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AASHTO Stopping Sight Distance + Google DeepMind Gemma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572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A87"/>
                </a:solidFill>
                <a:latin typeface="Arial"/>
              </a:defRPr>
            </a:pPr>
            <a:r>
              <a:t>AASHTO Stopping Sight Distance (SSD):</a:t>
            </a:r>
          </a:p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SSD = (v · tr) + [ v² / (2 · g · f) ]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• v = velocity (m/s)  • tr = perception lag (2.85s in smog)</a:t>
            </a:r>
            <a:br/>
            <a:r>
              <a:t>• f = friction coefficient (0.28 on chemical dew)</a:t>
            </a:r>
            <a:br/>
            <a:r>
              <a:t>• Crash Probability Index: CPI = SSD / Visibility (Safe: &lt; 1.0)</a:t>
            </a:r>
            <a:br/>
            <a:br/>
            <a:r>
              <a:t>Quadratic Safe Speed Solver:</a:t>
            </a:r>
            <a:br/>
            <a:r>
              <a:t>v_safe = [ -b + √(b² + 4ac) ] / 2a</a:t>
            </a:r>
            <a:br/>
            <a:br/>
            <a:r>
              <a:t>Dynamically calculates the exact speed cap where vehicle stopping distance never exceeds visible road boundary.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114800"/>
          </a:xfrm>
          <a:prstGeom prst="roundRect">
            <a:avLst/>
          </a:prstGeom>
          <a:solidFill>
            <a:srgbClr val="090F1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GOOGLE DEEPMIND AI ENGINE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Gemma 4 Multimodal Vision</a:t>
            </a:r>
          </a:p>
          <a:p>
            <a:br/>
            <a:pPr>
              <a:defRPr sz="1200">
                <a:solidFill>
                  <a:srgbClr val="CBD5E1"/>
                </a:solidFill>
                <a:latin typeface="Calibri"/>
              </a:defRPr>
            </a:pPr>
            <a:r>
              <a:t>Audits forward dashcam camera frames in real-time:</a:t>
            </a:r>
            <a:br/>
            <a:br/>
            <a:r>
              <a:t>1. Glare &amp; Backscatter Audit:</a:t>
            </a:r>
            <a:br/>
            <a:r>
              <a:t>Detects blinding high-beam reflection bouncing off aerosol soot.</a:t>
            </a:r>
            <a:br/>
            <a:br/>
            <a:r>
              <a:t>2. Low-Contrast Obstacle Alert:</a:t>
            </a:r>
            <a:br/>
            <a:r>
              <a:t>Identifies unlit sugarcane tractor-trolleys and broken-down buses.</a:t>
            </a:r>
            <a:br/>
            <a:br/>
            <a:r>
              <a:t>3. Roman Urdu Audio Beacons:</a:t>
            </a:r>
            <a:br/>
            <a:r>
              <a:t>Synthesizes direct spoken voice warnings tailored for Pakistani drivers.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7A87"/>
                </a:solidFill>
                <a:latin typeface="Arial"/>
              </a:defRPr>
            </a:pPr>
            <a:r>
              <a:t>SafarGuard  |  HIGHWAY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3200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rial"/>
              </a:defRPr>
            </a:pPr>
            <a:r>
              <a:t>GOOGLE DEEPMIND • GEMMA 4   |   DIGITALOCEAN OPEN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A87"/>
                </a:solidFill>
                <a:latin typeface="Arial"/>
              </a:defRPr>
            </a:pPr>
            <a:r>
              <a:t>MULTI-INTERFACE SYSTEM ARCHITECTURE</a:t>
            </a:r>
          </a:p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"Don't Outdrive What You Can See."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A87"/>
                </a:solidFill>
                <a:latin typeface="Arial"/>
              </a:defRPr>
            </a:pPr>
            <a:r>
              <a:t>SCREEN 01</a:t>
            </a:r>
          </a:p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Corridor Monitor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Live risk table across 5 Punjab corridors (M-2, M-11, N-5, Ring Road, M-4) with sensor tracking and dynamic safe speed caps.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01168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1488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A87"/>
                </a:solidFill>
                <a:latin typeface="Arial"/>
              </a:defRPr>
            </a:pPr>
            <a:r>
              <a:t>SCREEN 02</a:t>
            </a:r>
          </a:p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Careem / In-Ride HUD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Dedicated mobile companion for Careem, InDrive, and Uber drivers with live GPS map, hazard pins, and non-distracting audio alerts.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201168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21488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A87"/>
                </a:solidFill>
                <a:latin typeface="Arial"/>
              </a:defRPr>
            </a:pPr>
            <a:r>
              <a:t>SCREEN 03</a:t>
            </a:r>
          </a:p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Police Command Console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Control room console for Motorway Police (NHMP) and Rescue 1122 with geohash cluster maps and emergency broadcast controls.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5196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A87"/>
                </a:solidFill>
                <a:latin typeface="Arial"/>
              </a:defRPr>
            </a:pPr>
            <a:r>
              <a:t>SCREEN 04</a:t>
            </a:r>
          </a:p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Night HUD Cockpit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Pitch-black OLED cockpit mode with big contrast speedometer, CPI danger dial, and one-tap Roman Urdu audio beacon.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411480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425196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A87"/>
                </a:solidFill>
                <a:latin typeface="Arial"/>
              </a:defRPr>
            </a:pPr>
            <a:r>
              <a:t>SCREEN 05</a:t>
            </a:r>
          </a:p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Stopping Simulator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Interactive dynamic road diagram showing real-time collision gaps between reaction time, braking distance, and visibility.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411480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425196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A87"/>
                </a:solidFill>
                <a:latin typeface="Arial"/>
              </a:defRPr>
            </a:pPr>
            <a:r>
              <a:t>SYSTEM SPEC</a:t>
            </a:r>
          </a:p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Automotive Telematics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Barlow &amp; Fira Code typography, automotive ISO safety colors, 100% WCAG AAA night contrast ratios for zero glare.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7A87"/>
                </a:solidFill>
                <a:latin typeface="Arial"/>
              </a:defRPr>
            </a:pPr>
            <a:r>
              <a:t>SafarGuard  |  HIGHWAY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3200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rial"/>
              </a:defRPr>
            </a:pPr>
            <a:r>
              <a:t>GOOGLE DEEPMIND • GEMMA 4   |   DIGITALOCEAN OPEN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1887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7A87"/>
                </a:solidFill>
                <a:latin typeface="Arial"/>
              </a:defRPr>
            </a:pPr>
            <a:r>
              <a:t>ACOUSTIC SAFETY BEACON</a:t>
            </a:r>
          </a:p>
          <a:p>
            <a:pPr algn="ctr">
              <a:defRPr sz="3200" b="1">
                <a:solidFill>
                  <a:srgbClr val="0F172A"/>
                </a:solidFill>
                <a:latin typeface="Arial"/>
              </a:defRPr>
            </a:pPr>
            <a:r>
              <a:t>Urgent Roman Urdu Audio Warning</a:t>
            </a:r>
          </a:p>
          <a:p>
            <a:pPr algn="ctr">
              <a:defRPr sz="1400">
                <a:solidFill>
                  <a:srgbClr val="64748B"/>
                </a:solidFill>
                <a:latin typeface="Calibri"/>
              </a:defRPr>
            </a:pPr>
            <a:r>
              <a:t>Drivers in zero-visibility fog cannot look down at phone screens.</a:t>
            </a:r>
            <a:br/>
            <a:r>
              <a:t>SafarGuard speaks directly to them in urgent, clear Roman Urdu: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2926080"/>
            <a:ext cx="8138160" cy="2194560"/>
          </a:xfrm>
          <a:prstGeom prst="roundRect">
            <a:avLst/>
          </a:prstGeom>
          <a:solidFill>
            <a:srgbClr val="090F1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3200400"/>
            <a:ext cx="7589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🔊 "Khatra shadeed hai! Motorway par greasy chemical dew ki wajah se break nahi lagegi. Raftaar foran 35 km/h karein!"</a:t>
            </a:r>
          </a:p>
          <a:p>
            <a:pPr algn="ctr">
              <a:defRPr sz="1200">
                <a:solidFill>
                  <a:srgbClr val="38BDF8"/>
                </a:solidFill>
                <a:latin typeface="Calibri"/>
              </a:defRPr>
            </a:pPr>
            <a:br/>
            <a:r>
              <a:t>[Live Browser Speech Synthesis &amp; Google Gemma 4 Audio Guidance]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5486400"/>
            <a:ext cx="8138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7A87"/>
                </a:solidFill>
                <a:latin typeface="Arial"/>
              </a:defRPr>
            </a:pPr>
            <a:r>
              <a:t>Live Web App: http://localhost:5173  |  AI &amp; Physics Dashboard: http://localhost:8501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7A87"/>
                </a:solidFill>
                <a:latin typeface="Arial"/>
              </a:defRPr>
            </a:pPr>
            <a:r>
              <a:t>SafarGuard  |  HIGHWAY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3200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rial"/>
              </a:defRPr>
            </a:pPr>
            <a:r>
              <a:t>GOOGLE DEEPMIND • GEMMA 4   |   DIGITALOCEAN OPEN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A87"/>
                </a:solidFill>
                <a:latin typeface="Arial"/>
              </a:defRPr>
            </a:pPr>
            <a:r>
              <a:t>HACKTOBERFEST HACK DAY LAHORE 2026</a:t>
            </a:r>
          </a:p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Double Prize Track Alignment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GOOGLE DEEPMIND TRACK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Best Use of Gemma 4</a:t>
            </a:r>
          </a:p>
          <a:p>
            <a:br/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• Multimodal dashcam inspection via Gemini API &amp; Gemma 4.</a:t>
            </a:r>
            <a:br/>
            <a:r>
              <a:t>• Real-time detection of low-contrast unlit road hazards (sugarcane trolleys).</a:t>
            </a:r>
            <a:br/>
            <a:r>
              <a:t>• Synthesizes contextual Roman Urdu safety guidance for Pakistani drivers.</a:t>
            </a:r>
            <a:br/>
            <a:br/>
            <a:r>
              <a:t>✔ Verified Dual-Mode Inference: Cloud Gemini API with local edge fallback.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28600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E22CE"/>
                </a:solidFill>
                <a:latin typeface="Arial"/>
              </a:defRPr>
            </a:pPr>
            <a:r>
              <a:t>DIGITALOCEAN TRACK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Best Open-Source AI Project</a:t>
            </a:r>
          </a:p>
          <a:p>
            <a:br/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• 100% Permissive Open-Source MIT License.</a:t>
            </a:r>
            <a:br/>
            <a:r>
              <a:t>• Full Agent Skill Open Standard (SKILL.md) for autonomous AI agents.</a:t>
            </a:r>
            <a:br/>
            <a:r>
              <a:t>• Official Punjab Rescue 1122 and NHMP motorway closure benchmarks included.</a:t>
            </a:r>
            <a:br/>
            <a:br/>
            <a:r>
              <a:t>✔ Public GitHub Repository Ready for Launch.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